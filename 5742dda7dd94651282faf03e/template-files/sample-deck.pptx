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23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4241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What a file actually contains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52044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E8E14"/>
                </a:solidFill>
              </a:defRPr>
            </a:pPr>
            <a:r>
              <a:t>Metadata, structure and payload — read locally in the browser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23234"/>
                </a:solidFill>
              </a:defRPr>
            </a:pPr>
            <a:r>
              <a:t>Three layers of information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200" b="1">
                <a:solidFill>
                  <a:srgbClr val="323234"/>
                </a:solidFill>
              </a:rPr>
              <a:t>•  Metadata — </a:t>
            </a:r>
            <a:r>
              <a:rPr sz="2200">
                <a:solidFill>
                  <a:srgbClr val="606060"/>
                </a:solidFill>
              </a:rPr>
              <a:t>size, type, pages, camera settings, checksum.</a:t>
            </a:r>
          </a:p>
          <a:p>
            <a:pPr>
              <a:spcAft>
                <a:spcPts val="1800"/>
              </a:spcAft>
            </a:pPr>
            <a:r>
              <a:rPr sz="2200" b="1">
                <a:solidFill>
                  <a:srgbClr val="323234"/>
                </a:solidFill>
              </a:rPr>
              <a:t>•  Structure — </a:t>
            </a:r>
            <a:r>
              <a:rPr sz="2200">
                <a:solidFill>
                  <a:srgbClr val="606060"/>
                </a:solidFill>
              </a:rPr>
              <a:t>IFD chains, xref tables, ZIP parts, section breaks.</a:t>
            </a:r>
          </a:p>
          <a:p>
            <a:pPr>
              <a:spcAft>
                <a:spcPts val="1800"/>
              </a:spcAft>
            </a:pPr>
            <a:r>
              <a:rPr sz="2200" b="1">
                <a:solidFill>
                  <a:srgbClr val="323234"/>
                </a:solidFill>
              </a:rPr>
              <a:t>•  Payload — </a:t>
            </a:r>
            <a:r>
              <a:rPr sz="2200">
                <a:solidFill>
                  <a:srgbClr val="606060"/>
                </a:solidFill>
              </a:rPr>
              <a:t>the pixels, glyphs, cells or frames a reader sees.</a:t>
            </a:r>
          </a:p>
          <a:p>
            <a:pPr>
              <a:spcAft>
                <a:spcPts val="1800"/>
              </a:spcAft>
            </a:pPr>
            <a:r>
              <a:rPr sz="2200" b="1">
                <a:solidFill>
                  <a:srgbClr val="323234"/>
                </a:solidFill>
              </a:rPr>
              <a:t>•  Boundary — </a:t>
            </a:r>
            <a:r>
              <a:rPr sz="2200">
                <a:solidFill>
                  <a:srgbClr val="606060"/>
                </a:solidFill>
              </a:rPr>
              <a:t>a viewer shows all three; a preview shows the last 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23234"/>
                </a:solidFill>
              </a:defRPr>
            </a:pPr>
            <a:r>
              <a:t>Container formats at a glance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600200"/>
          <a:ext cx="104241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3474720"/>
                <a:gridCol w="3474720"/>
              </a:tblGrid>
              <a:tr h="54864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323234"/>
                          </a:solidFill>
                        </a:defRPr>
                      </a:pPr>
                      <a:r>
                        <a:t>Format</a:t>
                      </a:r>
                    </a:p>
                  </a:txBody>
                  <a:tcPr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323234"/>
                          </a:solidFill>
                        </a:defRPr>
                      </a:pPr>
                      <a:r>
                        <a:t>Signature</a:t>
                      </a:r>
                    </a:p>
                  </a:txBody>
                  <a:tcPr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323234"/>
                          </a:solidFill>
                        </a:defRPr>
                      </a:pPr>
                      <a:r>
                        <a:t>Pages live in</a:t>
                      </a:r>
                    </a:p>
                  </a:txBody>
                  <a:tcPr>
                    <a:solidFill>
                      <a:srgbClr val="F0F0E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23234"/>
                          </a:solidFill>
                        </a:defRPr>
                      </a:pPr>
                      <a:r>
                        <a:t>PDF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23234"/>
                          </a:solidFill>
                        </a:defRPr>
                      </a:pPr>
                      <a:r>
                        <a:t>%PDF-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23234"/>
                          </a:solidFill>
                        </a:defRPr>
                      </a:pPr>
                      <a:r>
                        <a:t>page tree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23234"/>
                          </a:solidFill>
                        </a:defRPr>
                      </a:pPr>
                      <a:r>
                        <a:t>TIFF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23234"/>
                          </a:solidFill>
                        </a:defRPr>
                      </a:pPr>
                      <a:r>
                        <a:t>II*\0 / MM\0*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23234"/>
                          </a:solidFill>
                        </a:defRPr>
                      </a:pPr>
                      <a:r>
                        <a:t>IFD chain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23234"/>
                          </a:solidFill>
                        </a:defRPr>
                      </a:pPr>
                      <a:r>
                        <a:t>DOCX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23234"/>
                          </a:solidFill>
                        </a:defRPr>
                      </a:pPr>
                      <a:r>
                        <a:t>PK zip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23234"/>
                          </a:solidFill>
                        </a:defRPr>
                      </a:pPr>
                      <a:r>
                        <a:t>sections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23234"/>
                          </a:solidFill>
                        </a:defRPr>
                      </a:pPr>
                      <a:r>
                        <a:t>XLSX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23234"/>
                          </a:solidFill>
                        </a:defRPr>
                      </a:pPr>
                      <a:r>
                        <a:t>PK zip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23234"/>
                          </a:solidFill>
                        </a:defRPr>
                      </a:pPr>
                      <a:r>
                        <a:t>worksheets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23234"/>
                          </a:solidFill>
                        </a:defRPr>
                      </a:pPr>
                      <a:r>
                        <a:t>PPTX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23234"/>
                          </a:solidFill>
                        </a:defRPr>
                      </a:pPr>
                      <a:r>
                        <a:t>PK zip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23234"/>
                          </a:solidFill>
                        </a:defRPr>
                      </a:pPr>
                      <a:r>
                        <a:t>slides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mple-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12779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323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9893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FFFFFF"/>
                </a:solidFill>
              </a:defRPr>
            </a:pPr>
            <a:r>
              <a:t>A picture is also a file: 1,800 x 1,200 px, EXIF intact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a file actually contains</dc:title>
  <dc:subject/>
  <dc:creator>FileDemo Sample Set</dc:creator>
  <cp:keywords/>
  <dc:description>Sample four-slide deck</dc:description>
  <cp:lastModifiedBy>FileDemo Sample Set</cp:lastModifiedBy>
  <cp:revision>1</cp:revision>
  <dcterms:created xsi:type="dcterms:W3CDTF">2026-09-15T14:08:00Z</dcterms:created>
  <dcterms:modified xsi:type="dcterms:W3CDTF">2026-09-18T11:47:00Z</dcterms:modified>
  <cp:category/>
</cp:coreProperties>
</file>